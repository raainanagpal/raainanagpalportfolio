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4E3A2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4E3A2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Live Commerce — India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Engagement to Profitable Conversion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A97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engagement, conversion, returns and creator trust meet — and who wins the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Masters’ Union  ·  build@praxel.in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OUR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Social &amp; Live Commerce, and Our Thesis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combines social media, creators, video and e-commerce. Consumers discover products through content, creators or live streams, then purchase through a marketplace, D2C site, social channel or messaging platform.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BF6EF"/>
          </a:solidFill>
          <a:ln w="12700">
            <a:solidFill>
              <a:srgbClr val="D8B9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2316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and live commerce is shifting shopping from search-led discovery to creator-led discovery. The next phase will be won by players that convert engagement into profitable purchases while controlling creator costs, fulfilment and returns.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(views, likes, watch time) does not automatically create profit — conversion and returns sit in between.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4114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43891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who own the full loop — creator, content, consumer, conversion, fulfilment and repeat purchase — not just the ones with the most attention.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Angle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A971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Brand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35000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pricing, inventory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72968" y="2144268"/>
            <a:ext cx="173736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9" name="Shape 7"/>
          <p:cNvSpPr/>
          <p:nvPr/>
        </p:nvSpPr>
        <p:spPr>
          <a:xfrm>
            <a:off x="3374136" y="1691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8C5A44"/>
          </a:solidFill>
          <a:ln/>
        </p:spPr>
      </p:sp>
      <p:sp>
        <p:nvSpPr>
          <p:cNvPr id="10" name="Text 8"/>
          <p:cNvSpPr/>
          <p:nvPr/>
        </p:nvSpPr>
        <p:spPr>
          <a:xfrm>
            <a:off x="3465576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5576" y="19842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Content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65576" y="235000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Influencers, brands, videos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98464" y="2144268"/>
            <a:ext cx="173736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9632" y="1691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A971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9842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Engagement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91072" y="235000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YouTube, WhatsApp,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23960" y="2144268"/>
            <a:ext cx="173736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025128" y="16916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8C5A44"/>
          </a:solidFill>
          <a:ln/>
        </p:spPr>
      </p:sp>
      <p:sp>
        <p:nvSpPr>
          <p:cNvPr id="20" name="Text 18"/>
          <p:cNvSpPr/>
          <p:nvPr/>
        </p:nvSpPr>
        <p:spPr>
          <a:xfrm>
            <a:off x="9116568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16568" y="19842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Layer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16568" y="235000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affiliate links, storefronts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A9714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91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387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39044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D2C, payments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3698748"/>
            <a:ext cx="173736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28" name="Shape 26"/>
          <p:cNvSpPr/>
          <p:nvPr/>
        </p:nvSpPr>
        <p:spPr>
          <a:xfrm>
            <a:off x="3374136" y="32461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8C5A44"/>
          </a:solidFill>
          <a:ln/>
        </p:spPr>
      </p:sp>
      <p:sp>
        <p:nvSpPr>
          <p:cNvPr id="29" name="Text 27"/>
          <p:cNvSpPr/>
          <p:nvPr/>
        </p:nvSpPr>
        <p:spPr>
          <a:xfrm>
            <a:off x="3465576" y="3291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65576" y="35387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65576" y="39044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Warehousing, delivery, last mile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98464" y="3698748"/>
            <a:ext cx="173736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32461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A9714B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3291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91072" y="35387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91072" y="39044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review, repeat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823960" y="3698748"/>
            <a:ext cx="173736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38" name="Shape 36"/>
          <p:cNvSpPr/>
          <p:nvPr/>
        </p:nvSpPr>
        <p:spPr>
          <a:xfrm>
            <a:off x="9025128" y="324612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8C5A44"/>
          </a:solidFill>
          <a:ln/>
        </p:spPr>
      </p:sp>
      <p:sp>
        <p:nvSpPr>
          <p:cNvPr id="39" name="Text 37"/>
          <p:cNvSpPr/>
          <p:nvPr/>
        </p:nvSpPr>
        <p:spPr>
          <a:xfrm>
            <a:off x="9116568" y="3291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16568" y="35387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/ RTO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116568" y="39044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exchanges, reverse logistics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0" y="2834640"/>
            <a:ext cx="274320" cy="320040"/>
          </a:xfrm>
          <a:prstGeom prst="downArrow">
            <a:avLst/>
          </a:prstGeom>
          <a:solidFill>
            <a:srgbClr val="D8B99A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traditional e-commerce begins Search → Product → Purchase. Social commerce increasingly begins Content → Discovery → Trust → Product → Purchase.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Value Chain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Players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93776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Facebook, YouTube,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Audience, content and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Amazon, Flipkart, Meesho, Myntra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and fulfilment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commerce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Shopping, Meesho creator ecosystem, Zoop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Creator-to-commerce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 / D2C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Nykaa, Purplle and D2C brands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Products, brand and customer 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/ influencer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Creators, agencies and affiliate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Trust, recommendation and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&amp; logistics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UPI, Razorpay, Delhivery, Shiprocket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Checkout, delivery and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Players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 — The Core Tension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makes money through product margins, marketplace commissions and services, advertising, creator/affiliate commissions and payments/logistics services. High engagement does not automatically create high profit.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Views, likes, comments, shares, watch time, live viewers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Clicks, add-to-cart, orders, GMV, conversion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margin, CAC, creator commission, fulfilment and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3B2A2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805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tension: platforms want attention, brands want profitable sales, creators want reliable monetisation, and logistics providers absorb the cost of returns/RTO.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Economics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5 &amp;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Policy, Regulation &amp; Industry Environment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BF6EF"/>
          </a:solidFill>
          <a:ln w="12700">
            <a:solidFill>
              <a:srgbClr val="D8B9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REGULATION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by India’s e-commerce and consumer-protection framework, plus rules on advertising and influencer endorsements. Key areas: consumer information, misleading claims, disclosure of sponsored content, refunds and customer protection.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BF6EF"/>
          </a:solidFill>
          <a:ln w="12700">
            <a:solidFill>
              <a:srgbClr val="D8B9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 has evolved from social reselling into creator-led commerce and, increasingly, commerce embedded inside major content platforms. Meesho, YouTube Shopping, Amazon Watch &amp; Shop and live-commerce platforms illustrate this progression.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Policy &amp; Funding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Sentiment &amp; Trust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BF6EF"/>
          </a:solidFill>
          <a:ln w="12700">
            <a:solidFill>
              <a:srgbClr val="D8B9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often buy based on a creator’s recommendation rather than a traditional product search. Authenticity increases conversion, but excessive sponsorships, poor product quality or misleading claims weaken trust — and drive returns.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BF6EF"/>
          </a:solidFill>
          <a:ln w="12700">
            <a:solidFill>
              <a:srgbClr val="D8B9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build the trust that drives conversion, but many report being paid late or unpredictably by brands and agencies — a reliability gap that can erode the same trust they create for buyers.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3B2A2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paradox: more commercialisation can increase monetisation, but too much commercialisation can reduce authenticity.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Sentiment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&amp; Skills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 creates roles across creator management, influencer marketing, e-commerce, affiliate marketing, content, live commerce, growth, fulfilment, analytics and AI.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Manager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2377440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23774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Manager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2377440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1584" y="23774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Manager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6440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Manager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5112" y="3264408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326440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Manager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3264408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326440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Live-Commerce Host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51376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5112" y="4151376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01584" y="4151376"/>
            <a:ext cx="3520440" cy="658368"/>
          </a:xfrm>
          <a:prstGeom prst="roundRect">
            <a:avLst>
              <a:gd name="adj" fmla="val 48611"/>
            </a:avLst>
          </a:prstGeom>
          <a:solidFill>
            <a:srgbClr val="FBF6EF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Analyst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Jobs &amp; Skills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Relevance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E6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1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Scripts, captions, thumbnails, translations and video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Identifying products mentioned in videos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product recommendations and shopping assistants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0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customer support, product recommendations and stream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B9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AI Relevance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Social &amp; Live Commerce Sector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8745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3B2A2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0208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Angle &amp;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4963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 on engagement vs. profit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A971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0208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Parallel research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24963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sections researched at once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8745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A971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20208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Source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4963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every claim used here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352044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A971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36667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Depth dial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41422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economics &amp; players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352044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A971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6667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Draft assembly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41422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map, argument-first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1560" y="352044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3B2A2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36667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Human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1422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 before publishing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97096" y="2395728"/>
            <a:ext cx="292608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23" name="Shape 21"/>
          <p:cNvSpPr/>
          <p:nvPr/>
        </p:nvSpPr>
        <p:spPr>
          <a:xfrm>
            <a:off x="7671816" y="2395728"/>
            <a:ext cx="292608" cy="146304"/>
          </a:xfrm>
          <a:prstGeom prst="rightArrow">
            <a:avLst/>
          </a:prstGeom>
          <a:solidFill>
            <a:srgbClr val="D8B99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2328" y="3108960"/>
            <a:ext cx="146304" cy="365760"/>
          </a:xfrm>
          <a:prstGeom prst="downArrow">
            <a:avLst/>
          </a:prstGeom>
          <a:solidFill>
            <a:srgbClr val="D8B99A"/>
          </a:solidFill>
          <a:ln/>
        </p:spPr>
      </p:sp>
      <p:sp>
        <p:nvSpPr>
          <p:cNvPr id="25" name="Shape 23"/>
          <p:cNvSpPr/>
          <p:nvPr/>
        </p:nvSpPr>
        <p:spPr>
          <a:xfrm>
            <a:off x="7671816" y="4041648"/>
            <a:ext cx="292608" cy="146304"/>
          </a:xfrm>
          <a:prstGeom prst="leftArrow">
            <a:avLst/>
          </a:prstGeom>
          <a:solidFill>
            <a:srgbClr val="D8B99A"/>
          </a:solidFill>
          <a:ln/>
        </p:spPr>
      </p:sp>
      <p:sp>
        <p:nvSpPr>
          <p:cNvPr id="26" name="Shape 24"/>
          <p:cNvSpPr/>
          <p:nvPr/>
        </p:nvSpPr>
        <p:spPr>
          <a:xfrm>
            <a:off x="4197096" y="4041648"/>
            <a:ext cx="292608" cy="146304"/>
          </a:xfrm>
          <a:prstGeom prst="leftArrow">
            <a:avLst/>
          </a:prstGeom>
          <a:solidFill>
            <a:srgbClr val="D8B99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983480"/>
            <a:ext cx="182880" cy="18288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28" name="Text 26"/>
          <p:cNvSpPr/>
          <p:nvPr/>
        </p:nvSpPr>
        <p:spPr>
          <a:xfrm>
            <a:off x="1399032" y="4928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 our team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794760" y="4983480"/>
            <a:ext cx="182880" cy="182880"/>
          </a:xfrm>
          <a:prstGeom prst="ellipse">
            <a:avLst/>
          </a:prstGeom>
          <a:solidFill>
            <a:srgbClr val="A9714B"/>
          </a:solidFill>
          <a:ln/>
        </p:spPr>
      </p:sp>
      <p:sp>
        <p:nvSpPr>
          <p:cNvPr id="30" name="Text 28"/>
          <p:cNvSpPr/>
          <p:nvPr/>
        </p:nvSpPr>
        <p:spPr>
          <a:xfrm>
            <a:off x="4050792" y="49286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automatically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Workflow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4E3A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Next Winners Are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and creators already win on reach. The next winners are the players who close the gap between engagement and profit — by making conversion, fulfilment and creator payouts as reliable as the content itself.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4E3A2C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291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9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 conversion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8862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buyers off COD at the point of live purchase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306324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4E3A2C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291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9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Return-reduction tech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8862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sizing, live Q&amp;A, and confidence-building at checkout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306324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4E3A2C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291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9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payout escrow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38862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Milestone-based, reliable, no long wait for payment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257800"/>
            <a:ext cx="9875520" cy="1005840"/>
          </a:xfrm>
          <a:prstGeom prst="roundRect">
            <a:avLst>
              <a:gd name="adj" fmla="val 9091"/>
            </a:avLst>
          </a:prstGeom>
          <a:solidFill>
            <a:srgbClr val="4E3A2C"/>
          </a:solidFill>
          <a:ln w="12700">
            <a:solidFill>
              <a:srgbClr val="A971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257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1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next competitive advantage will be turning attention into profitable, repeatable transactions without letting returns, discounts and creator costs destroy unit economics.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LIVE COMMERCE — SECTOR 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Opportunity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WHAT THIS MEANS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Loop, Not Just the Audience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position is increasingly not simply owning an audience. It is owning the loop from Creator → Content → Consumer → Conversion → Fulfilment → Repeat Purchase.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1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table stakes. Owning the loop — and the trust inside it — is the moat.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Masters’ Union  ·  build@praxel.in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2026-08-10T16:23:59Z</dcterms:created>
  <dcterms:modified xsi:type="dcterms:W3CDTF">2026-08-10T16:23:59Z</dcterms:modified>
</cp:coreProperties>
</file>